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86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7415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WeavePDF is an all-in-one SaaS platform for PDF management and productivity.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agenda briefly — 7 sections covering the full proposal.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how fragmented tooling wastes time and creates security vulnerabilities.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vision: one platform to replace many. Highlight the 7 core objectives.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the breadth: 8 of 15 features shown here. Each is a standalone functional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Remaining 9 features. Emphasize AI (quiz gen), accessibility (audiobook), and collaboration.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layer is purpose-selected. Next.js enables SSR + API routes in one framework.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7-step workflow from auth to real-time collaboration. Emphasize MongoDB logging for admin insights.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17 weeks total. Structured in 11 phases. Each phase has clear deliverables.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Summarize: 6 major deliverables. Each outcome maps directly to an objective from slide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with: WeavePDF has strong academic and commercial value. Ready to answer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3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2.png"/><Relationship Id="rId10" Type="http://schemas.openxmlformats.org/officeDocument/2006/relationships/image" Target="../media/image4.png"/><Relationship Id="rId4" Type="http://schemas.openxmlformats.org/officeDocument/2006/relationships/image" Target="../media/image10.png"/><Relationship Id="rId9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4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5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114800" cy="4114800"/>
          </a:xfrm>
          <a:prstGeom prst="ellipse">
            <a:avLst/>
          </a:prstGeom>
          <a:solidFill>
            <a:srgbClr val="0096C7">
              <a:alpha val="15000"/>
            </a:srgbClr>
          </a:solidFill>
          <a:ln w="12700">
            <a:solidFill>
              <a:srgbClr val="0096C7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-731520"/>
            <a:ext cx="2743200" cy="2743200"/>
          </a:xfrm>
          <a:prstGeom prst="ellipse">
            <a:avLst/>
          </a:prstGeom>
          <a:solidFill>
            <a:srgbClr val="00B4D8">
              <a:alpha val="10000"/>
            </a:srgbClr>
          </a:solidFill>
          <a:ln w="12700">
            <a:solidFill>
              <a:srgbClr val="00B4D8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097280" y="3840480"/>
            <a:ext cx="2743200" cy="2743200"/>
          </a:xfrm>
          <a:prstGeom prst="ellipse">
            <a:avLst/>
          </a:prstGeom>
          <a:solidFill>
            <a:srgbClr val="0096C7">
              <a:alpha val="12000"/>
            </a:srgbClr>
          </a:solidFill>
          <a:ln w="12700">
            <a:solidFill>
              <a:srgbClr val="0096C7">
                <a:alpha val="20000"/>
              </a:srgbClr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584662"/>
            <a:ext cx="594360" cy="594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401782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WeavePDF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502920" y="131618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All-in-One PDF &amp; Productivity Web Platform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02920" y="1864822"/>
            <a:ext cx="36576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204770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Type: </a:t>
            </a:r>
            <a:r>
              <a:rPr lang="en-US" sz="1300" dirty="0">
                <a:solidFill>
                  <a:srgbClr val="CA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Web Application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02920" y="241346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</a:t>
            </a:r>
            <a:r>
              <a:rPr lang="en-US" sz="1300" dirty="0">
                <a:solidFill>
                  <a:srgbClr val="CA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· React · Node.js · MongoDB · Tailwind CSS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02920" y="277922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Users: </a:t>
            </a:r>
            <a:r>
              <a:rPr lang="en-US" sz="1300" dirty="0">
                <a:solidFill>
                  <a:srgbClr val="CA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· Professionals · Businesses · Remote Teams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02920" y="3510742"/>
            <a:ext cx="3566160" cy="914400"/>
          </a:xfrm>
          <a:prstGeom prst="roundRect">
            <a:avLst>
              <a:gd name="adj" fmla="val 10000"/>
            </a:avLst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357475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A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MD. Ishtiak Ahmed  </a:t>
            </a:r>
            <a:r>
              <a:rPr lang="en-US" sz="1100" dirty="0">
                <a:solidFill>
                  <a:srgbClr val="CA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2137620107
</a:t>
            </a:r>
            <a:r>
              <a:rPr lang="en-US" sz="1100" b="1" dirty="0">
                <a:solidFill>
                  <a:srgbClr val="CA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Sharmin Akter  </a:t>
            </a:r>
            <a:r>
              <a:rPr lang="en-US" sz="1100" dirty="0">
                <a:solidFill>
                  <a:srgbClr val="CA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2137620128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297680" y="3510742"/>
            <a:ext cx="4389120" cy="914400"/>
          </a:xfrm>
          <a:prstGeom prst="roundRect">
            <a:avLst>
              <a:gd name="adj" fmla="val 10000"/>
            </a:avLst>
          </a:prstGeom>
          <a:solidFill>
            <a:srgbClr val="112240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389120" y="357475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</a:t>
            </a:r>
            <a:r>
              <a:rPr lang="en-US" sz="1100" dirty="0">
                <a:solidFill>
                  <a:srgbClr val="CA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MD. Ariful Islam
Lecturer, Dept. of CSE
Rangpur Engineering College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Presentation Agenda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27432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05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102412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1344168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unified platform is needed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1965960"/>
            <a:ext cx="27432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0116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202996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2350008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WeavePDF is and its objectives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2971800"/>
            <a:ext cx="27432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0175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14400" y="303580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3355848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integrated modules &amp; capabilities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337560" y="1463040"/>
            <a:ext cx="27432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383280" y="15087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8328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931920" y="152704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931920" y="1847088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Frontend, backend, database &amp; services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337560" y="2468880"/>
            <a:ext cx="27432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383280" y="25146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8328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31920" y="253288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931920" y="2852928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platform processes requests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26480" y="1463040"/>
            <a:ext cx="27432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72200" y="15087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7220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720840" y="152704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Timeline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720840" y="1847088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17-week development roadmap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126480" y="2468880"/>
            <a:ext cx="27432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172200" y="25146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7220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720840" y="253288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720840" y="2852928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 and impact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457200"/>
            <a:ext cx="2743200" cy="2743200"/>
          </a:xfrm>
          <a:prstGeom prst="ellipse">
            <a:avLst/>
          </a:prstGeom>
          <a:solidFill>
            <a:srgbClr val="00B4D8">
              <a:alpha val="8000"/>
            </a:srgbClr>
          </a:solidFill>
          <a:ln w="12700">
            <a:solidFill>
              <a:srgbClr val="00B4D8">
                <a:alpha val="2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users struggle with today's fragmented tools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4023360" cy="822960"/>
          </a:xfrm>
          <a:prstGeom prst="roundRect">
            <a:avLst>
              <a:gd name="adj" fmla="val 11111"/>
            </a:avLst>
          </a:prstGeom>
          <a:solidFill>
            <a:srgbClr val="112240"/>
          </a:solidFill>
          <a:ln w="12700">
            <a:solidFill>
              <a:srgbClr val="0096C7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55448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87552" y="150876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Risks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87552" y="178308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documents uploaded to multiple unfamiliar third-party services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754880" y="1417320"/>
            <a:ext cx="4023360" cy="822960"/>
          </a:xfrm>
          <a:prstGeom prst="roundRect">
            <a:avLst>
              <a:gd name="adj" fmla="val 11111"/>
            </a:avLst>
          </a:prstGeom>
          <a:solidFill>
            <a:srgbClr val="112240"/>
          </a:solidFill>
          <a:ln w="12700">
            <a:solidFill>
              <a:srgbClr val="0096C7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155448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376672" y="150876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Unified Platform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5376672" y="178308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switch between 5+ tools just to manage basic PDF workflows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365760" y="2423160"/>
            <a:ext cx="4023360" cy="822960"/>
          </a:xfrm>
          <a:prstGeom prst="roundRect">
            <a:avLst>
              <a:gd name="adj" fmla="val 11111"/>
            </a:avLst>
          </a:prstGeom>
          <a:solidFill>
            <a:srgbClr val="112240"/>
          </a:solidFill>
          <a:ln w="12700">
            <a:solidFill>
              <a:srgbClr val="0096C7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" y="2560320"/>
            <a:ext cx="411480" cy="4114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87552" y="25146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Integrated Payment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987552" y="278892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seamless premium subscription model within a single tool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4754880" y="2423160"/>
            <a:ext cx="4023360" cy="822960"/>
          </a:xfrm>
          <a:prstGeom prst="roundRect">
            <a:avLst>
              <a:gd name="adj" fmla="val 11111"/>
            </a:avLst>
          </a:prstGeom>
          <a:solidFill>
            <a:srgbClr val="112240"/>
          </a:solidFill>
          <a:ln w="12700">
            <a:solidFill>
              <a:srgbClr val="0096C7"/>
            </a:solidFill>
            <a:prstDash val="solid"/>
          </a:ln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64608" y="2560320"/>
            <a:ext cx="411480" cy="4114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376672" y="25146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Issues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5376672" y="278892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Non-technical users struggle with complex document management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2560320" y="3931920"/>
            <a:ext cx="4023360" cy="822960"/>
          </a:xfrm>
          <a:prstGeom prst="roundRect">
            <a:avLst>
              <a:gd name="adj" fmla="val 11111"/>
            </a:avLst>
          </a:prstGeom>
          <a:solidFill>
            <a:srgbClr val="112240"/>
          </a:solidFill>
          <a:ln w="12700">
            <a:solidFill>
              <a:srgbClr val="0096C7"/>
            </a:solidFill>
            <a:prstDash val="solid"/>
          </a:ln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70048" y="4069080"/>
            <a:ext cx="411480" cy="41148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3182112" y="402336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Collaboration Layer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3182112" y="429768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built-in communication within any document management platform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2240"/>
          </a:solidFill>
          <a:ln w="12700">
            <a:solidFill>
              <a:srgbClr val="0D22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 &amp; Objectives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3931920" cy="3840480"/>
          </a:xfrm>
          <a:prstGeom prst="roundRect">
            <a:avLst>
              <a:gd name="adj" fmla="val 3571"/>
            </a:avLst>
          </a:prstGeom>
          <a:solidFill>
            <a:srgbClr val="0A1628"/>
          </a:solidFill>
          <a:ln w="19050">
            <a:solidFill>
              <a:srgbClr val="00B4D8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14300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560" y="111556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WeavePDF?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169164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WeavePDF is a comprehensive browser-based (Software as a service) SaaS platform that unifies PDF management, document conversion, real-time collaboration, and productivity tools into a single secure environment.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57200" y="2834640"/>
            <a:ext cx="1645920" cy="256032"/>
          </a:xfrm>
          <a:prstGeom prst="roundRect">
            <a:avLst>
              <a:gd name="adj" fmla="val 17857"/>
            </a:avLst>
          </a:prstGeom>
          <a:solidFill>
            <a:srgbClr val="0096C7">
              <a:alpha val="8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28346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Editing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377440" y="2834640"/>
            <a:ext cx="1645920" cy="256032"/>
          </a:xfrm>
          <a:prstGeom prst="roundRect">
            <a:avLst>
              <a:gd name="adj" fmla="val 17857"/>
            </a:avLst>
          </a:prstGeom>
          <a:solidFill>
            <a:srgbClr val="0096C7">
              <a:alpha val="8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377440" y="28346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Features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57200" y="3182112"/>
            <a:ext cx="1645920" cy="256032"/>
          </a:xfrm>
          <a:prstGeom prst="roundRect">
            <a:avLst>
              <a:gd name="adj" fmla="val 17857"/>
            </a:avLst>
          </a:prstGeom>
          <a:solidFill>
            <a:srgbClr val="0096C7">
              <a:alpha val="8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318211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2377440" y="3182112"/>
            <a:ext cx="1645920" cy="256032"/>
          </a:xfrm>
          <a:prstGeom prst="roundRect">
            <a:avLst>
              <a:gd name="adj" fmla="val 17857"/>
            </a:avLst>
          </a:prstGeom>
          <a:solidFill>
            <a:srgbClr val="0096C7">
              <a:alpha val="8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377440" y="318211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Gateway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57200" y="3529584"/>
            <a:ext cx="1645920" cy="256032"/>
          </a:xfrm>
          <a:prstGeom prst="roundRect">
            <a:avLst>
              <a:gd name="adj" fmla="val 17857"/>
            </a:avLst>
          </a:prstGeom>
          <a:solidFill>
            <a:srgbClr val="0096C7">
              <a:alpha val="8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7200" y="352958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Builder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2377440" y="3529584"/>
            <a:ext cx="1645920" cy="256032"/>
          </a:xfrm>
          <a:prstGeom prst="roundRect">
            <a:avLst>
              <a:gd name="adj" fmla="val 17857"/>
            </a:avLst>
          </a:prstGeom>
          <a:solidFill>
            <a:srgbClr val="0096C7">
              <a:alpha val="8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377440" y="352958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4526280" y="960120"/>
            <a:ext cx="4297680" cy="384048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4663440" y="10972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Objectives</a:t>
            </a:r>
            <a:endParaRPr lang="en-US" sz="1500" dirty="0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1572768"/>
            <a:ext cx="228600" cy="22860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4937760" y="153619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functional, responsive (phone user also) web app for PDF management</a:t>
            </a:r>
            <a:endParaRPr lang="en-US" sz="1050" dirty="0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2002536"/>
            <a:ext cx="228600" cy="22860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4937760" y="196596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Speech-to-text, quiz generation &amp; PDF-to-audiobook integration</a:t>
            </a:r>
            <a:endParaRPr lang="en-US" sz="1050" dirty="0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2432304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4937760" y="239572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digital payment gateway with billing management</a:t>
            </a:r>
            <a:endParaRPr lang="en-US" sz="1050" dirty="0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2862072"/>
            <a:ext cx="228600" cy="22860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4937760" y="282549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collaboration via integrated messenger chat</a:t>
            </a:r>
            <a:endParaRPr lang="en-US" sz="1050" dirty="0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3291840"/>
            <a:ext cx="228600" cy="22860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4937760" y="325526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&amp; CV builders with PDF export capability</a:t>
            </a:r>
            <a:endParaRPr lang="en-US" sz="1050" dirty="0"/>
          </a:p>
        </p:txBody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3721608"/>
            <a:ext cx="228600" cy="228600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4937760" y="368503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 with user management &amp; analytics</a:t>
            </a:r>
            <a:endParaRPr lang="en-US" sz="1050" dirty="0"/>
          </a:p>
        </p:txBody>
      </p:sp>
      <p:pic>
        <p:nvPicPr>
          <p:cNvPr id="34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4151376"/>
            <a:ext cx="228600" cy="228600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4937760" y="411480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architecture using modern full-stack technologies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200400"/>
            <a:ext cx="3200400" cy="3200400"/>
          </a:xfrm>
          <a:prstGeom prst="ellipse">
            <a:avLst/>
          </a:prstGeom>
          <a:solidFill>
            <a:srgbClr val="00B4D8">
              <a:alpha val="8000"/>
            </a:srgbClr>
          </a:solidFill>
          <a:ln w="12700">
            <a:solidFill>
              <a:srgbClr val="00B4D8">
                <a:alpha val="2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integrated modules for PDF management &amp; productivity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1920240" cy="1600200"/>
          </a:xfrm>
          <a:prstGeom prst="roundRect">
            <a:avLst>
              <a:gd name="adj" fmla="val 6857"/>
            </a:avLst>
          </a:prstGeom>
          <a:solidFill>
            <a:srgbClr val="112240"/>
          </a:solidFill>
          <a:ln w="9525">
            <a:solidFill>
              <a:srgbClr val="0096C7"/>
            </a:solidFill>
            <a:prstDash val="solid"/>
          </a:ln>
          <a:effectLst>
            <a:outerShdw blurRad="101600" dist="25400" dir="27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1443397"/>
            <a:ext cx="420624" cy="4206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38328" y="2011680"/>
            <a:ext cx="1792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&amp; Split PDF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38328" y="2350008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or divide documents with ease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441448" y="1234440"/>
            <a:ext cx="1920240" cy="1600200"/>
          </a:xfrm>
          <a:prstGeom prst="roundRect">
            <a:avLst>
              <a:gd name="adj" fmla="val 6857"/>
            </a:avLst>
          </a:prstGeom>
          <a:solidFill>
            <a:srgbClr val="112240"/>
          </a:solidFill>
          <a:ln w="9525">
            <a:solidFill>
              <a:srgbClr val="0096C7"/>
            </a:solidFill>
            <a:prstDash val="solid"/>
          </a:ln>
          <a:effectLst>
            <a:outerShdw blurRad="101600" dist="25400" dir="27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2949" y="1435100"/>
            <a:ext cx="420624" cy="42062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505456" y="2011680"/>
            <a:ext cx="1792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PDF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2505456" y="2350008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Text, images, watermarks, signatures in-browser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4608576" y="1234440"/>
            <a:ext cx="1920240" cy="1600200"/>
          </a:xfrm>
          <a:prstGeom prst="roundRect">
            <a:avLst>
              <a:gd name="adj" fmla="val 6857"/>
            </a:avLst>
          </a:prstGeom>
          <a:solidFill>
            <a:srgbClr val="112240"/>
          </a:solidFill>
          <a:ln w="9525">
            <a:solidFill>
              <a:srgbClr val="0096C7"/>
            </a:solidFill>
            <a:prstDash val="solid"/>
          </a:ln>
          <a:effectLst>
            <a:outerShdw blurRad="101600" dist="25400" dir="27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58384" y="1435608"/>
            <a:ext cx="420624" cy="42062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672584" y="2011680"/>
            <a:ext cx="1792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&amp; MD to PDF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4672584" y="2350008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.docx/.md preserving all formatting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6775704" y="1234440"/>
            <a:ext cx="1920240" cy="1600200"/>
          </a:xfrm>
          <a:prstGeom prst="roundRect">
            <a:avLst>
              <a:gd name="adj" fmla="val 6857"/>
            </a:avLst>
          </a:prstGeom>
          <a:solidFill>
            <a:srgbClr val="112240"/>
          </a:solidFill>
          <a:ln w="9525">
            <a:solidFill>
              <a:srgbClr val="0096C7"/>
            </a:solidFill>
            <a:prstDash val="solid"/>
          </a:ln>
          <a:effectLst>
            <a:outerShdw blurRad="101600" dist="25400" dir="27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5512" y="1408176"/>
            <a:ext cx="420624" cy="42062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839712" y="2011680"/>
            <a:ext cx="1792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to Text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6839712" y="2350008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real-time transcription</a:t>
            </a:r>
            <a:endParaRPr lang="en-US" sz="900" dirty="0"/>
          </a:p>
        </p:txBody>
      </p:sp>
      <p:sp>
        <p:nvSpPr>
          <p:cNvPr id="25" name="Shape 19"/>
          <p:cNvSpPr/>
          <p:nvPr/>
        </p:nvSpPr>
        <p:spPr>
          <a:xfrm>
            <a:off x="274320" y="3017520"/>
            <a:ext cx="1920240" cy="1600200"/>
          </a:xfrm>
          <a:prstGeom prst="roundRect">
            <a:avLst>
              <a:gd name="adj" fmla="val 6857"/>
            </a:avLst>
          </a:prstGeom>
          <a:solidFill>
            <a:srgbClr val="112240"/>
          </a:solidFill>
          <a:ln w="9525">
            <a:solidFill>
              <a:srgbClr val="0096C7"/>
            </a:solidFill>
            <a:prstDash val="solid"/>
          </a:ln>
          <a:effectLst>
            <a:outerShdw blurRad="101600" dist="25400" dir="27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3200400"/>
            <a:ext cx="420624" cy="42062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38328" y="3794760"/>
            <a:ext cx="1792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to PDF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338328" y="4133088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JPG/PNG to shareable PDFs</a:t>
            </a:r>
            <a:endParaRPr lang="en-US" sz="900" dirty="0"/>
          </a:p>
        </p:txBody>
      </p:sp>
      <p:sp>
        <p:nvSpPr>
          <p:cNvPr id="30" name="Shape 23"/>
          <p:cNvSpPr/>
          <p:nvPr/>
        </p:nvSpPr>
        <p:spPr>
          <a:xfrm>
            <a:off x="2441448" y="3017520"/>
            <a:ext cx="1920240" cy="1600200"/>
          </a:xfrm>
          <a:prstGeom prst="roundRect">
            <a:avLst>
              <a:gd name="adj" fmla="val 6857"/>
            </a:avLst>
          </a:prstGeom>
          <a:solidFill>
            <a:srgbClr val="112240"/>
          </a:solidFill>
          <a:ln w="9525">
            <a:solidFill>
              <a:srgbClr val="0096C7"/>
            </a:solidFill>
            <a:prstDash val="solid"/>
          </a:ln>
          <a:effectLst>
            <a:outerShdw blurRad="101600" dist="25400" dir="27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92949" y="3188547"/>
            <a:ext cx="420624" cy="420624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2505456" y="3794760"/>
            <a:ext cx="1792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Payment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2505456" y="4133088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Stripe/SSLCommerz subscription billing</a:t>
            </a:r>
            <a:endParaRPr lang="en-US" sz="900" dirty="0"/>
          </a:p>
        </p:txBody>
      </p:sp>
      <p:sp>
        <p:nvSpPr>
          <p:cNvPr id="35" name="Shape 27"/>
          <p:cNvSpPr/>
          <p:nvPr/>
        </p:nvSpPr>
        <p:spPr>
          <a:xfrm>
            <a:off x="4608576" y="3017520"/>
            <a:ext cx="1920240" cy="1600200"/>
          </a:xfrm>
          <a:prstGeom prst="roundRect">
            <a:avLst>
              <a:gd name="adj" fmla="val 6857"/>
            </a:avLst>
          </a:prstGeom>
          <a:solidFill>
            <a:srgbClr val="112240"/>
          </a:solidFill>
          <a:ln w="9525">
            <a:solidFill>
              <a:srgbClr val="0096C7"/>
            </a:solidFill>
            <a:prstDash val="solid"/>
          </a:ln>
          <a:effectLst>
            <a:outerShdw blurRad="101600" dist="25400" dir="27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37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58384" y="3251200"/>
            <a:ext cx="420624" cy="420624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4672584" y="3794760"/>
            <a:ext cx="1792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  <a:endParaRPr lang="en-US" sz="1100" dirty="0"/>
          </a:p>
        </p:txBody>
      </p:sp>
      <p:sp>
        <p:nvSpPr>
          <p:cNvPr id="39" name="Text 30"/>
          <p:cNvSpPr/>
          <p:nvPr/>
        </p:nvSpPr>
        <p:spPr>
          <a:xfrm>
            <a:off x="4672584" y="4133088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Analytics, user management, download tracking</a:t>
            </a:r>
            <a:endParaRPr lang="en-US" sz="900" dirty="0"/>
          </a:p>
        </p:txBody>
      </p:sp>
      <p:sp>
        <p:nvSpPr>
          <p:cNvPr id="40" name="Shape 31"/>
          <p:cNvSpPr/>
          <p:nvPr/>
        </p:nvSpPr>
        <p:spPr>
          <a:xfrm>
            <a:off x="6775704" y="3017520"/>
            <a:ext cx="1920240" cy="1600200"/>
          </a:xfrm>
          <a:prstGeom prst="roundRect">
            <a:avLst>
              <a:gd name="adj" fmla="val 6857"/>
            </a:avLst>
          </a:prstGeom>
          <a:solidFill>
            <a:srgbClr val="112240"/>
          </a:solidFill>
          <a:ln w="9525">
            <a:solidFill>
              <a:srgbClr val="0096C7"/>
            </a:solidFill>
            <a:prstDash val="solid"/>
          </a:ln>
          <a:effectLst>
            <a:outerShdw blurRad="101600" dist="25400" dir="27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42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5512" y="3180249"/>
            <a:ext cx="420624" cy="420624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6839712" y="3794760"/>
            <a:ext cx="1792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&amp; CV Builder</a:t>
            </a:r>
            <a:endParaRPr lang="en-US" sz="1100" dirty="0"/>
          </a:p>
        </p:txBody>
      </p:sp>
      <p:sp>
        <p:nvSpPr>
          <p:cNvPr id="44" name="Text 34"/>
          <p:cNvSpPr/>
          <p:nvPr/>
        </p:nvSpPr>
        <p:spPr>
          <a:xfrm>
            <a:off x="6839712" y="4133088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Template-based builders with PDF export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2240"/>
          </a:solidFill>
          <a:ln w="12700">
            <a:solidFill>
              <a:srgbClr val="0D22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Features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26974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261872"/>
            <a:ext cx="502920" cy="502920"/>
          </a:xfrm>
          <a:prstGeom prst="ellipse">
            <a:avLst/>
          </a:prstGeom>
          <a:solidFill>
            <a:srgbClr val="00B4D8">
              <a:alpha val="15000"/>
            </a:srgbClr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" y="1316736"/>
            <a:ext cx="393192" cy="3931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111556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to Audiobook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1005840" y="14173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Accessibility-focused text-to-speech conversion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246120" y="1005840"/>
            <a:ext cx="26974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337560" y="1261872"/>
            <a:ext cx="502920" cy="502920"/>
          </a:xfrm>
          <a:prstGeom prst="ellipse">
            <a:avLst/>
          </a:prstGeom>
          <a:solidFill>
            <a:srgbClr val="00B4D8">
              <a:alpha val="15000"/>
            </a:srgbClr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2424" y="1316736"/>
            <a:ext cx="393192" cy="39319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931920" y="111556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Generator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3931920" y="14173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auto-generates MCQ/short-answer quizzes from PDFs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6172200" y="1005840"/>
            <a:ext cx="26974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263640" y="1261872"/>
            <a:ext cx="502920" cy="502920"/>
          </a:xfrm>
          <a:prstGeom prst="ellipse">
            <a:avLst/>
          </a:prstGeom>
          <a:solidFill>
            <a:srgbClr val="00B4D8">
              <a:alpha val="15000"/>
            </a:srgbClr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8504" y="1316736"/>
            <a:ext cx="393192" cy="39319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858000" y="111556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Code Generator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6858000" y="14173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URLs or links to downloadable QR codes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320040" y="2331720"/>
            <a:ext cx="26974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11480" y="2587752"/>
            <a:ext cx="502920" cy="502920"/>
          </a:xfrm>
          <a:prstGeom prst="ellipse">
            <a:avLst/>
          </a:prstGeom>
          <a:solidFill>
            <a:srgbClr val="10B981">
              <a:alpha val="15000"/>
            </a:srgbClr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344" y="2642616"/>
            <a:ext cx="393192" cy="39319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005840" y="244144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Messenger Chat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1005840" y="27432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in-platform collaboration &amp; file sharing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3246120" y="2331720"/>
            <a:ext cx="26974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337560" y="2587752"/>
            <a:ext cx="502920" cy="502920"/>
          </a:xfrm>
          <a:prstGeom prst="ellipse">
            <a:avLst/>
          </a:prstGeom>
          <a:solidFill>
            <a:srgbClr val="10B981">
              <a:alpha val="15000"/>
            </a:srgbClr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92424" y="2642616"/>
            <a:ext cx="393192" cy="39319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931920" y="244144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List</a:t>
            </a:r>
            <a:endParaRPr lang="en-US" sz="1150" dirty="0"/>
          </a:p>
        </p:txBody>
      </p:sp>
      <p:sp>
        <p:nvSpPr>
          <p:cNvPr id="28" name="Text 21"/>
          <p:cNvSpPr/>
          <p:nvPr/>
        </p:nvSpPr>
        <p:spPr>
          <a:xfrm>
            <a:off x="3931920" y="27432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task management for document workflows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6172200" y="2331720"/>
            <a:ext cx="26974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263640" y="2587752"/>
            <a:ext cx="502920" cy="502920"/>
          </a:xfrm>
          <a:prstGeom prst="ellipse">
            <a:avLst/>
          </a:prstGeom>
          <a:solidFill>
            <a:srgbClr val="10B981">
              <a:alpha val="15000"/>
            </a:srgbClr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18504" y="2642616"/>
            <a:ext cx="393192" cy="39319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858000" y="244144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Signature</a:t>
            </a:r>
            <a:endParaRPr lang="en-US" sz="1150" dirty="0"/>
          </a:p>
        </p:txBody>
      </p:sp>
      <p:sp>
        <p:nvSpPr>
          <p:cNvPr id="33" name="Text 25"/>
          <p:cNvSpPr/>
          <p:nvPr/>
        </p:nvSpPr>
        <p:spPr>
          <a:xfrm>
            <a:off x="6858000" y="27432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Canvas-based digital signatures embedded in PDFs</a:t>
            </a:r>
            <a:endParaRPr lang="en-US" sz="950" dirty="0"/>
          </a:p>
        </p:txBody>
      </p:sp>
      <p:sp>
        <p:nvSpPr>
          <p:cNvPr id="34" name="Shape 26"/>
          <p:cNvSpPr/>
          <p:nvPr/>
        </p:nvSpPr>
        <p:spPr>
          <a:xfrm>
            <a:off x="320040" y="3657600"/>
            <a:ext cx="26974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411480" y="3913632"/>
            <a:ext cx="502920" cy="502920"/>
          </a:xfrm>
          <a:prstGeom prst="ellipse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6344" y="3968496"/>
            <a:ext cx="393192" cy="393192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1005840" y="376732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Watermark</a:t>
            </a:r>
            <a:endParaRPr lang="en-US" sz="1150" dirty="0"/>
          </a:p>
        </p:txBody>
      </p:sp>
      <p:sp>
        <p:nvSpPr>
          <p:cNvPr id="38" name="Text 29"/>
          <p:cNvSpPr/>
          <p:nvPr/>
        </p:nvSpPr>
        <p:spPr>
          <a:xfrm>
            <a:off x="1005840" y="40690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Text/image overlays for document branding &amp; protection</a:t>
            </a:r>
            <a:endParaRPr lang="en-US" sz="950" dirty="0"/>
          </a:p>
        </p:txBody>
      </p:sp>
      <p:sp>
        <p:nvSpPr>
          <p:cNvPr id="39" name="Shape 30"/>
          <p:cNvSpPr/>
          <p:nvPr/>
        </p:nvSpPr>
        <p:spPr>
          <a:xfrm>
            <a:off x="3246120" y="3657600"/>
            <a:ext cx="26974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40" name="Shape 31"/>
          <p:cNvSpPr/>
          <p:nvPr/>
        </p:nvSpPr>
        <p:spPr>
          <a:xfrm>
            <a:off x="3337560" y="3913632"/>
            <a:ext cx="502920" cy="502920"/>
          </a:xfrm>
          <a:prstGeom prst="ellipse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41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92424" y="3968496"/>
            <a:ext cx="393192" cy="393192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3931920" y="376732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Page Numbers</a:t>
            </a:r>
            <a:endParaRPr lang="en-US" sz="1150" dirty="0"/>
          </a:p>
        </p:txBody>
      </p:sp>
      <p:sp>
        <p:nvSpPr>
          <p:cNvPr id="43" name="Text 33"/>
          <p:cNvSpPr/>
          <p:nvPr/>
        </p:nvSpPr>
        <p:spPr>
          <a:xfrm>
            <a:off x="3931920" y="40690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page numbering for long documents</a:t>
            </a:r>
            <a:endParaRPr lang="en-US" sz="950" dirty="0"/>
          </a:p>
        </p:txBody>
      </p:sp>
      <p:sp>
        <p:nvSpPr>
          <p:cNvPr id="44" name="Shape 34"/>
          <p:cNvSpPr/>
          <p:nvPr/>
        </p:nvSpPr>
        <p:spPr>
          <a:xfrm>
            <a:off x="6172200" y="3657600"/>
            <a:ext cx="26974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45" name="Shape 35"/>
          <p:cNvSpPr/>
          <p:nvPr/>
        </p:nvSpPr>
        <p:spPr>
          <a:xfrm>
            <a:off x="6263640" y="3913632"/>
            <a:ext cx="502920" cy="502920"/>
          </a:xfrm>
          <a:prstGeom prst="ellipse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46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18504" y="3968496"/>
            <a:ext cx="393192" cy="393192"/>
          </a:xfrm>
          <a:prstGeom prst="rect">
            <a:avLst/>
          </a:prstGeom>
        </p:spPr>
      </p:pic>
      <p:sp>
        <p:nvSpPr>
          <p:cNvPr id="47" name="Text 36"/>
          <p:cNvSpPr/>
          <p:nvPr/>
        </p:nvSpPr>
        <p:spPr>
          <a:xfrm>
            <a:off x="6858000" y="376732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Management</a:t>
            </a:r>
            <a:endParaRPr lang="en-US" sz="1150" dirty="0"/>
          </a:p>
        </p:txBody>
      </p:sp>
      <p:sp>
        <p:nvSpPr>
          <p:cNvPr id="48" name="Text 37"/>
          <p:cNvSpPr/>
          <p:nvPr/>
        </p:nvSpPr>
        <p:spPr>
          <a:xfrm>
            <a:off x="6858000" y="40690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history and subscription plan management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Industry-standard technologies for scalability and performance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280160"/>
            <a:ext cx="1965960" cy="3566160"/>
          </a:xfrm>
          <a:prstGeom prst="roundRect">
            <a:avLst>
              <a:gd name="adj" fmla="val 5581"/>
            </a:avLst>
          </a:prstGeom>
          <a:solidFill>
            <a:srgbClr val="0096C7">
              <a:alpha val="15000"/>
            </a:srgbClr>
          </a:solidFill>
          <a:ln w="19050">
            <a:solidFill>
              <a:srgbClr val="0096C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280160"/>
            <a:ext cx="1965960" cy="457200"/>
          </a:xfrm>
          <a:prstGeom prst="roundRect">
            <a:avLst>
              <a:gd name="adj" fmla="val 24000"/>
            </a:avLst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2801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874520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(App Router)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65760" y="2386584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65760" y="2898648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/ JavaScript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3410712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Redux Toolkit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65760" y="3922776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450592" y="1280160"/>
            <a:ext cx="1965960" cy="3566160"/>
          </a:xfrm>
          <a:prstGeom prst="roundRect">
            <a:avLst>
              <a:gd name="adj" fmla="val 5581"/>
            </a:avLst>
          </a:prstGeom>
          <a:solidFill>
            <a:srgbClr val="0077B6">
              <a:alpha val="15000"/>
            </a:srgbClr>
          </a:solidFill>
          <a:ln w="19050">
            <a:solidFill>
              <a:srgbClr val="0077B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50592" y="1280160"/>
            <a:ext cx="1965960" cy="457200"/>
          </a:xfrm>
          <a:prstGeom prst="roundRect">
            <a:avLst>
              <a:gd name="adj" fmla="val 24000"/>
            </a:avLst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50592" y="12801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542032" y="1874520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542032" y="2386584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542032" y="2898648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542032" y="3410712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PDF Libraries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542032" y="3922776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Puppeteer / markdown-pdf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626864" y="1280160"/>
            <a:ext cx="1965960" cy="3566160"/>
          </a:xfrm>
          <a:prstGeom prst="roundRect">
            <a:avLst>
              <a:gd name="adj" fmla="val 5581"/>
            </a:avLst>
          </a:prstGeom>
          <a:solidFill>
            <a:srgbClr val="023E8A">
              <a:alpha val="15000"/>
            </a:srgbClr>
          </a:solidFill>
          <a:ln w="19050">
            <a:solidFill>
              <a:srgbClr val="023E8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26864" y="1280160"/>
            <a:ext cx="1965960" cy="457200"/>
          </a:xfrm>
          <a:prstGeom prst="roundRect">
            <a:avLst>
              <a:gd name="adj" fmla="val 24000"/>
            </a:avLst>
          </a:prstGeom>
          <a:solidFill>
            <a:srgbClr val="023E8A"/>
          </a:solidFill>
          <a:ln w="12700">
            <a:solidFill>
              <a:srgbClr val="023E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26864" y="12801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&amp; Services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18304" y="1874520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+ Mongoose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718304" y="2386584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(Auth &amp; RT)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718304" y="2898648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/ SSLCommerz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718304" y="3410712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Storage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718304" y="3922776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API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803136" y="1280160"/>
            <a:ext cx="1965960" cy="3566160"/>
          </a:xfrm>
          <a:prstGeom prst="roundRect">
            <a:avLst>
              <a:gd name="adj" fmla="val 5581"/>
            </a:avLst>
          </a:prstGeom>
          <a:solidFill>
            <a:srgbClr val="03045E">
              <a:alpha val="15000"/>
            </a:srgbClr>
          </a:solidFill>
          <a:ln w="19050">
            <a:solidFill>
              <a:srgbClr val="03045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803136" y="1280160"/>
            <a:ext cx="1965960" cy="457200"/>
          </a:xfrm>
          <a:prstGeom prst="roundRect">
            <a:avLst>
              <a:gd name="adj" fmla="val 24000"/>
            </a:avLst>
          </a:prstGeom>
          <a:solidFill>
            <a:srgbClr val="03045E"/>
          </a:solidFill>
          <a:ln w="12700">
            <a:solidFill>
              <a:srgbClr val="03045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03136" y="12801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&amp; Deploy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894576" y="1874520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894576" y="2386584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 (API Testing)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894576" y="2898648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(Frontend)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894576" y="3410712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(Backend)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894576" y="3922776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 (UI/UX Design)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2240"/>
          </a:solidFill>
          <a:ln w="12700">
            <a:solidFill>
              <a:srgbClr val="0D22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 &amp; Workflow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1097280" cy="3474720"/>
          </a:xfrm>
          <a:prstGeom prst="roundRect">
            <a:avLst>
              <a:gd name="adj" fmla="val 8333"/>
            </a:avLst>
          </a:prstGeom>
          <a:solidFill>
            <a:srgbClr val="0A1628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143000"/>
            <a:ext cx="548640" cy="548640"/>
          </a:xfrm>
          <a:prstGeom prst="ellipse">
            <a:avLst/>
          </a:prstGeom>
          <a:solidFill>
            <a:srgbClr val="00B4D8">
              <a:alpha val="8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143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87452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20040" y="246888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Auth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320040" y="3017520"/>
            <a:ext cx="1005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A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login or guest access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1371600" y="1389888"/>
            <a:ext cx="1371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508760" y="1005840"/>
            <a:ext cx="1097280" cy="3474720"/>
          </a:xfrm>
          <a:prstGeom prst="roundRect">
            <a:avLst>
              <a:gd name="adj" fmla="val 8333"/>
            </a:avLst>
          </a:prstGeom>
          <a:solidFill>
            <a:srgbClr val="0D2240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783080" y="1143000"/>
            <a:ext cx="548640" cy="548640"/>
          </a:xfrm>
          <a:prstGeom prst="ellipse">
            <a:avLst/>
          </a:prstGeom>
          <a:solidFill>
            <a:srgbClr val="00B4D8">
              <a:alpha val="8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783080" y="1143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1874520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554480" y="246888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Selection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1554480" y="3017520"/>
            <a:ext cx="1005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A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Merge, Speech-to-Text, Resume Builder…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2606040" y="1389888"/>
            <a:ext cx="1371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2743200" y="1005840"/>
            <a:ext cx="1097280" cy="3474720"/>
          </a:xfrm>
          <a:prstGeom prst="roundRect">
            <a:avLst>
              <a:gd name="adj" fmla="val 8333"/>
            </a:avLst>
          </a:prstGeom>
          <a:solidFill>
            <a:srgbClr val="0A1628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3017520" y="1143000"/>
            <a:ext cx="548640" cy="548640"/>
          </a:xfrm>
          <a:prstGeom prst="ellipse">
            <a:avLst/>
          </a:prstGeom>
          <a:solidFill>
            <a:srgbClr val="00B4D8">
              <a:alpha val="8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3017520" y="1143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63240" y="1874520"/>
            <a:ext cx="457200" cy="45720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2788920" y="246888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File/Input Submit</a:t>
            </a:r>
            <a:endParaRPr lang="en-US" sz="950" dirty="0"/>
          </a:p>
        </p:txBody>
      </p:sp>
      <p:sp>
        <p:nvSpPr>
          <p:cNvPr id="23" name="Text 18"/>
          <p:cNvSpPr/>
          <p:nvPr/>
        </p:nvSpPr>
        <p:spPr>
          <a:xfrm>
            <a:off x="2788920" y="3017520"/>
            <a:ext cx="1005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A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 Next.js frontend</a:t>
            </a:r>
            <a:endParaRPr lang="en-US" sz="850" dirty="0"/>
          </a:p>
        </p:txBody>
      </p:sp>
      <p:sp>
        <p:nvSpPr>
          <p:cNvPr id="24" name="Shape 19"/>
          <p:cNvSpPr/>
          <p:nvPr/>
        </p:nvSpPr>
        <p:spPr>
          <a:xfrm>
            <a:off x="3840480" y="1389888"/>
            <a:ext cx="1371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3977640" y="1005840"/>
            <a:ext cx="1097280" cy="3474720"/>
          </a:xfrm>
          <a:prstGeom prst="roundRect">
            <a:avLst>
              <a:gd name="adj" fmla="val 8333"/>
            </a:avLst>
          </a:prstGeom>
          <a:solidFill>
            <a:srgbClr val="0D2240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4251960" y="1143000"/>
            <a:ext cx="548640" cy="548640"/>
          </a:xfrm>
          <a:prstGeom prst="ellipse">
            <a:avLst/>
          </a:prstGeom>
          <a:solidFill>
            <a:srgbClr val="00B4D8">
              <a:alpha val="8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4251960" y="1143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97680" y="1874520"/>
            <a:ext cx="457200" cy="45720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4023360" y="246888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Processing</a:t>
            </a:r>
            <a:endParaRPr lang="en-US" sz="950" dirty="0"/>
          </a:p>
        </p:txBody>
      </p:sp>
      <p:sp>
        <p:nvSpPr>
          <p:cNvPr id="30" name="Text 24"/>
          <p:cNvSpPr/>
          <p:nvPr/>
        </p:nvSpPr>
        <p:spPr>
          <a:xfrm>
            <a:off x="4023360" y="3017520"/>
            <a:ext cx="1005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A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routes &amp; npm libraries called</a:t>
            </a:r>
            <a:endParaRPr lang="en-US" sz="850" dirty="0"/>
          </a:p>
        </p:txBody>
      </p:sp>
      <p:sp>
        <p:nvSpPr>
          <p:cNvPr id="31" name="Shape 25"/>
          <p:cNvSpPr/>
          <p:nvPr/>
        </p:nvSpPr>
        <p:spPr>
          <a:xfrm>
            <a:off x="5074920" y="1389888"/>
            <a:ext cx="1371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5212080" y="1005840"/>
            <a:ext cx="1097280" cy="3474720"/>
          </a:xfrm>
          <a:prstGeom prst="roundRect">
            <a:avLst>
              <a:gd name="adj" fmla="val 8333"/>
            </a:avLst>
          </a:prstGeom>
          <a:solidFill>
            <a:srgbClr val="0A1628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5486400" y="1143000"/>
            <a:ext cx="548640" cy="548640"/>
          </a:xfrm>
          <a:prstGeom prst="ellipse">
            <a:avLst/>
          </a:prstGeom>
          <a:solidFill>
            <a:srgbClr val="00B4D8">
              <a:alpha val="8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5486400" y="1143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32120" y="1874520"/>
            <a:ext cx="457200" cy="457200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5257800" y="246888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Returned</a:t>
            </a:r>
            <a:endParaRPr lang="en-US" sz="950" dirty="0"/>
          </a:p>
        </p:txBody>
      </p:sp>
      <p:sp>
        <p:nvSpPr>
          <p:cNvPr id="37" name="Text 30"/>
          <p:cNvSpPr/>
          <p:nvPr/>
        </p:nvSpPr>
        <p:spPr>
          <a:xfrm>
            <a:off x="5257800" y="3017520"/>
            <a:ext cx="1005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A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PDF/audio/text for download</a:t>
            </a:r>
            <a:endParaRPr lang="en-US" sz="850" dirty="0"/>
          </a:p>
        </p:txBody>
      </p:sp>
      <p:sp>
        <p:nvSpPr>
          <p:cNvPr id="38" name="Shape 31"/>
          <p:cNvSpPr/>
          <p:nvPr/>
        </p:nvSpPr>
        <p:spPr>
          <a:xfrm>
            <a:off x="6309360" y="1389888"/>
            <a:ext cx="1371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9" name="Shape 32"/>
          <p:cNvSpPr/>
          <p:nvPr/>
        </p:nvSpPr>
        <p:spPr>
          <a:xfrm>
            <a:off x="6446520" y="1005840"/>
            <a:ext cx="1097280" cy="3474720"/>
          </a:xfrm>
          <a:prstGeom prst="roundRect">
            <a:avLst>
              <a:gd name="adj" fmla="val 8333"/>
            </a:avLst>
          </a:prstGeom>
          <a:solidFill>
            <a:srgbClr val="0D2240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40" name="Shape 33"/>
          <p:cNvSpPr/>
          <p:nvPr/>
        </p:nvSpPr>
        <p:spPr>
          <a:xfrm>
            <a:off x="6720840" y="1143000"/>
            <a:ext cx="548640" cy="548640"/>
          </a:xfrm>
          <a:prstGeom prst="ellipse">
            <a:avLst/>
          </a:prstGeom>
          <a:solidFill>
            <a:srgbClr val="00B4D8">
              <a:alpha val="8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1" name="Text 34"/>
          <p:cNvSpPr/>
          <p:nvPr/>
        </p:nvSpPr>
        <p:spPr>
          <a:xfrm>
            <a:off x="6720840" y="1143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pic>
        <p:nvPicPr>
          <p:cNvPr id="42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6560" y="1874520"/>
            <a:ext cx="457200" cy="457200"/>
          </a:xfrm>
          <a:prstGeom prst="rect">
            <a:avLst/>
          </a:prstGeom>
        </p:spPr>
      </p:pic>
      <p:sp>
        <p:nvSpPr>
          <p:cNvPr id="43" name="Text 35"/>
          <p:cNvSpPr/>
          <p:nvPr/>
        </p:nvSpPr>
        <p:spPr>
          <a:xfrm>
            <a:off x="6492240" y="246888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Logged</a:t>
            </a:r>
            <a:endParaRPr lang="en-US" sz="950" dirty="0"/>
          </a:p>
        </p:txBody>
      </p:sp>
      <p:sp>
        <p:nvSpPr>
          <p:cNvPr id="44" name="Text 36"/>
          <p:cNvSpPr/>
          <p:nvPr/>
        </p:nvSpPr>
        <p:spPr>
          <a:xfrm>
            <a:off x="6492240" y="3017520"/>
            <a:ext cx="1005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A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→ Admin Dashboard</a:t>
            </a:r>
            <a:endParaRPr lang="en-US" sz="850" dirty="0"/>
          </a:p>
        </p:txBody>
      </p:sp>
      <p:sp>
        <p:nvSpPr>
          <p:cNvPr id="45" name="Shape 37"/>
          <p:cNvSpPr/>
          <p:nvPr/>
        </p:nvSpPr>
        <p:spPr>
          <a:xfrm>
            <a:off x="7543800" y="1389888"/>
            <a:ext cx="1371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6" name="Shape 38"/>
          <p:cNvSpPr/>
          <p:nvPr/>
        </p:nvSpPr>
        <p:spPr>
          <a:xfrm>
            <a:off x="7680960" y="1005840"/>
            <a:ext cx="1097280" cy="3474720"/>
          </a:xfrm>
          <a:prstGeom prst="roundRect">
            <a:avLst>
              <a:gd name="adj" fmla="val 8333"/>
            </a:avLst>
          </a:prstGeom>
          <a:solidFill>
            <a:srgbClr val="0A1628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47" name="Shape 39"/>
          <p:cNvSpPr/>
          <p:nvPr/>
        </p:nvSpPr>
        <p:spPr>
          <a:xfrm>
            <a:off x="7955280" y="1143000"/>
            <a:ext cx="548640" cy="548640"/>
          </a:xfrm>
          <a:prstGeom prst="ellipse">
            <a:avLst/>
          </a:prstGeom>
          <a:solidFill>
            <a:srgbClr val="00B4D8">
              <a:alpha val="8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8" name="Text 40"/>
          <p:cNvSpPr/>
          <p:nvPr/>
        </p:nvSpPr>
        <p:spPr>
          <a:xfrm>
            <a:off x="7955280" y="1143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pic>
        <p:nvPicPr>
          <p:cNvPr id="49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01000" y="1874520"/>
            <a:ext cx="457200" cy="457200"/>
          </a:xfrm>
          <a:prstGeom prst="rect">
            <a:avLst/>
          </a:prstGeom>
        </p:spPr>
      </p:pic>
      <p:sp>
        <p:nvSpPr>
          <p:cNvPr id="50" name="Text 41"/>
          <p:cNvSpPr/>
          <p:nvPr/>
        </p:nvSpPr>
        <p:spPr>
          <a:xfrm>
            <a:off x="7726680" y="246888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</a:t>
            </a:r>
            <a:endParaRPr lang="en-US" sz="950" dirty="0"/>
          </a:p>
        </p:txBody>
      </p:sp>
      <p:sp>
        <p:nvSpPr>
          <p:cNvPr id="51" name="Text 42"/>
          <p:cNvSpPr/>
          <p:nvPr/>
        </p:nvSpPr>
        <p:spPr>
          <a:xfrm>
            <a:off x="7726680" y="3017520"/>
            <a:ext cx="1005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A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messenger or WhatsApp chat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Timeline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17-week structured development roadmap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0040" y="150876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A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114800" y="150876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A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9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138160" y="150876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A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17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20040" y="1965960"/>
            <a:ext cx="8503920" cy="384048"/>
          </a:xfrm>
          <a:prstGeom prst="roundRect">
            <a:avLst>
              <a:gd name="adj" fmla="val 11905"/>
            </a:avLst>
          </a:prstGeom>
          <a:solidFill>
            <a:srgbClr val="112240"/>
          </a:solidFill>
          <a:ln w="6350">
            <a:solidFill>
              <a:srgbClr val="0096C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1965960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0B4D8">
              <a:alpha val="7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196596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1–3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508760" y="20299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108960" y="2029968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Analysis, UI/UX Design, Auth Setup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" y="2423160"/>
            <a:ext cx="8503920" cy="384048"/>
          </a:xfrm>
          <a:prstGeom prst="roundRect">
            <a:avLst>
              <a:gd name="adj" fmla="val 11905"/>
            </a:avLst>
          </a:prstGeom>
          <a:solidFill>
            <a:srgbClr val="0D2240"/>
          </a:solidFill>
          <a:ln w="6350">
            <a:solidFill>
              <a:srgbClr val="0096C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" y="2423160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0B4D8">
              <a:alpha val="7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242316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4–5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508760" y="24871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5–8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108960" y="2487168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Core Module + AI &amp; Conversion Features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0040" y="2880360"/>
            <a:ext cx="8503920" cy="384048"/>
          </a:xfrm>
          <a:prstGeom prst="roundRect">
            <a:avLst>
              <a:gd name="adj" fmla="val 11905"/>
            </a:avLst>
          </a:prstGeom>
          <a:solidFill>
            <a:srgbClr val="112240"/>
          </a:solidFill>
          <a:ln w="6350">
            <a:solidFill>
              <a:srgbClr val="0096C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" y="2880360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0B4D8">
              <a:alpha val="7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288036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6–7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508760" y="29443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9–11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108960" y="2944368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Gateway + Resume/CV &amp; Quiz Generator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20040" y="3337560"/>
            <a:ext cx="8503920" cy="384048"/>
          </a:xfrm>
          <a:prstGeom prst="roundRect">
            <a:avLst>
              <a:gd name="adj" fmla="val 11905"/>
            </a:avLst>
          </a:prstGeom>
          <a:solidFill>
            <a:srgbClr val="0D2240"/>
          </a:solidFill>
          <a:ln w="6350">
            <a:solidFill>
              <a:srgbClr val="0096C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0040" y="3337560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0B4D8">
              <a:alpha val="7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0040" y="333756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8–9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508760" y="34015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12–14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108960" y="3401568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Messenger, Todo, Dashboard + Admin Panel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20040" y="3794760"/>
            <a:ext cx="8503920" cy="384048"/>
          </a:xfrm>
          <a:prstGeom prst="roundRect">
            <a:avLst>
              <a:gd name="adj" fmla="val 11905"/>
            </a:avLst>
          </a:prstGeom>
          <a:solidFill>
            <a:srgbClr val="112240"/>
          </a:solidFill>
          <a:ln w="6350">
            <a:solidFill>
              <a:srgbClr val="0096C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20040" y="3794760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0B4D8">
              <a:alpha val="7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0040" y="379476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10–11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508760" y="38587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15–17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108960" y="3858768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Testing, Bug Fixing, Deployment &amp; Docs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2240"/>
          </a:solidFill>
          <a:ln w="12700">
            <a:solidFill>
              <a:srgbClr val="0D22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Outcomes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265176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" y="1207008"/>
            <a:ext cx="512064" cy="5120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1170432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Web App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11480" y="1901952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functional, accessible from any modern browser — no installation required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200400" y="1005840"/>
            <a:ext cx="265176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8708" y="1170432"/>
            <a:ext cx="512064" cy="51206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069080" y="1170432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PDF Suite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291840" y="1901952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Merge, split, edit, convert, watermark &amp; sign — all in one platform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080760" y="1005840"/>
            <a:ext cx="265176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1234440"/>
            <a:ext cx="512064" cy="51206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949440" y="1170432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Tools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172200" y="1901952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Speech-to-text, quiz generator &amp; PDF-to-audiobook powered by AI APIs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320040" y="2880360"/>
            <a:ext cx="265176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348" y="3081528"/>
            <a:ext cx="512064" cy="51206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188720" y="3044952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Payments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411480" y="3776472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Stripe/SSLCommerz integration with subscription &amp; billing management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3200400" y="2880360"/>
            <a:ext cx="265176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78708" y="3099477"/>
            <a:ext cx="512064" cy="51206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069080" y="3044952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3291840" y="3776472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analytics, user management &amp; file download tracking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6080760" y="2880360"/>
            <a:ext cx="265176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7920" y="3072384"/>
            <a:ext cx="512064" cy="51206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949440" y="3044952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Collaboration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6172200" y="3776472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Messenger/WhatsApp chat for seamless team document coordination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00B4D8">
              <a:alpha val="10000"/>
            </a:srgbClr>
          </a:solidFill>
          <a:ln w="12700">
            <a:solidFill>
              <a:srgbClr val="00B4D8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3474720"/>
            <a:ext cx="3657600" cy="3657600"/>
          </a:xfrm>
          <a:prstGeom prst="ellipse">
            <a:avLst/>
          </a:prstGeom>
          <a:solidFill>
            <a:srgbClr val="0096C7">
              <a:alpha val="10000"/>
            </a:srgbClr>
          </a:solidFill>
          <a:ln w="12700">
            <a:solidFill>
              <a:srgbClr val="0096C7">
                <a:alpha val="2000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5720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88720" y="32004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457200" y="11430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WeavePDF is designed to consolidate the fragmented world of digital document management and productivity tools into a single, beautifully designed SaaS platform.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65760" y="2057400"/>
            <a:ext cx="3977640" cy="731520"/>
          </a:xfrm>
          <a:prstGeom prst="roundRect">
            <a:avLst>
              <a:gd name="adj" fmla="val 12500"/>
            </a:avLst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2194560"/>
            <a:ext cx="411480" cy="411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87552" y="210312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987552" y="242316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+ AI + Collaboration + Payments in one place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4754880" y="2057400"/>
            <a:ext cx="3977640" cy="731520"/>
          </a:xfrm>
          <a:prstGeom prst="roundRect">
            <a:avLst>
              <a:gd name="adj" fmla="val 12500"/>
            </a:avLst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2194560"/>
            <a:ext cx="411480" cy="4114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376672" y="210312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Stack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5376672" y="242316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· React · MongoDB · JWT · Tailwind CSS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365760" y="2926080"/>
            <a:ext cx="3977640" cy="731520"/>
          </a:xfrm>
          <a:prstGeom prst="roundRect">
            <a:avLst>
              <a:gd name="adj" fmla="val 12500"/>
            </a:avLst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3063240"/>
            <a:ext cx="411480" cy="4114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87552" y="297180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Design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987552" y="32918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architecture for easy feature extension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4754880" y="2926080"/>
            <a:ext cx="3977640" cy="731520"/>
          </a:xfrm>
          <a:prstGeom prst="roundRect">
            <a:avLst>
              <a:gd name="adj" fmla="val 12500"/>
            </a:avLst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3063240"/>
            <a:ext cx="411480" cy="41148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376672" y="297180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Value</a:t>
            </a:r>
            <a:endParaRPr lang="en-US" sz="1200" dirty="0"/>
          </a:p>
        </p:txBody>
      </p:sp>
      <p:sp>
        <p:nvSpPr>
          <p:cNvPr id="22" name="Text 15"/>
          <p:cNvSpPr/>
          <p:nvPr/>
        </p:nvSpPr>
        <p:spPr>
          <a:xfrm>
            <a:off x="5376672" y="32918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potential serving students &amp; businesses globally</a:t>
            </a:r>
            <a:endParaRPr lang="en-US" sz="1050" dirty="0"/>
          </a:p>
        </p:txBody>
      </p:sp>
      <p:sp>
        <p:nvSpPr>
          <p:cNvPr id="23" name="Text 16"/>
          <p:cNvSpPr/>
          <p:nvPr/>
        </p:nvSpPr>
        <p:spPr>
          <a:xfrm>
            <a:off x="457200" y="4617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 —  Questions Welcome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1046</Words>
  <Application>Microsoft Office PowerPoint</Application>
  <PresentationFormat>On-screen Show (16:9)</PresentationFormat>
  <Paragraphs>209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WeavePDF - Project Proposal</dc:title>
  <dc:subject>PptxGenJS Presentation</dc:subject>
  <dc:creator>PptxGenJS</dc:creator>
  <cp:lastModifiedBy>Ishtiak</cp:lastModifiedBy>
  <cp:revision>2</cp:revision>
  <dcterms:created xsi:type="dcterms:W3CDTF">2026-06-25T04:23:49Z</dcterms:created>
  <dcterms:modified xsi:type="dcterms:W3CDTF">2026-06-25T14:33:24Z</dcterms:modified>
</cp:coreProperties>
</file>